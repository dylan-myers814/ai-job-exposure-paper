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3676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AI JOB EXPOSURE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IN THE U.S. ECONOMY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94A3B8"/>
                </a:solidFill>
              </a:rPr>
              <a:t>A Speculative Regression Framework with Agent-Based Policy Simulation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3566160"/>
            <a:ext cx="320040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</a:rPr>
              <a:t>Dylan Myers  |  May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MOTIVATION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600" b="1" dirty="0">
                <a:solidFill>
                  <a:srgbClr val="0F172A"/>
                </a:solidFill>
              </a:rPr>
              <a:t>Are We Cooked?</a:t>
            </a:r>
            <a:br>
              <a:rPr lang="en-US" sz="2600" b="1" dirty="0">
                <a:solidFill>
                  <a:srgbClr val="0F172A"/>
                </a:solidFill>
              </a:rPr>
            </a:br>
            <a:r>
              <a:rPr lang="en-US" sz="1600" dirty="0"/>
              <a:t>"What makes a job structurally vulnerable to AI — and does policy determine whether that vulnerability becomes a crisis?"</a:t>
            </a:r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303520" cy="2651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4864" cy="2651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965960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I'm an Economics major.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This summer I start an internship at a wealth management firm.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 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My job: </a:t>
            </a:r>
            <a:r>
              <a:rPr lang="en-US" sz="1350" dirty="0">
                <a:solidFill>
                  <a:srgbClr val="0F172A"/>
                </a:solidFill>
              </a:rPr>
              <a:t>analyze data, write reports, coordinate clients.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 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Those are </a:t>
            </a:r>
            <a:r>
              <a:rPr lang="en-US" sz="1350" b="1" i="1" dirty="0">
                <a:solidFill>
                  <a:srgbClr val="0F172A"/>
                </a:solidFill>
              </a:rPr>
              <a:t>exactly</a:t>
            </a:r>
            <a:r>
              <a:rPr lang="en-US" sz="1350" dirty="0">
                <a:solidFill>
                  <a:srgbClr val="0F172A"/>
                </a:solidFill>
              </a:rPr>
              <a:t> the tasks AI is getting good at — fast.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 </a:t>
            </a:r>
            <a:endParaRPr lang="en-US" sz="1350" dirty="0"/>
          </a:p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</a:rPr>
              <a:t>So I got scared. And I started measuring it.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35040" y="1874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At-risk occupations: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035040" y="2286000"/>
            <a:ext cx="2834640" cy="43891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26480" y="23042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Financial Analyst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26480" y="250545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</a:rPr>
              <a:t>AIOE: High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2816352"/>
            <a:ext cx="2834640" cy="43891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0" y="28346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HR Specialist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30358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</a:rPr>
              <a:t>AIOE: High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3346704"/>
            <a:ext cx="2834640" cy="43891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33649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Marketing Coordinator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35661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</a:rPr>
              <a:t>AIOE: High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35040" y="3877056"/>
            <a:ext cx="2834640" cy="438912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26480" y="38953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Data Entry Clerk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409651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</a:rPr>
              <a:t>AIOE: Very High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THE TOOL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Defining AI Exposure: The AIOE Score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474720" cy="21945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AI Occupational Exposure (AIOE)
</a:t>
            </a:r>
            <a:r>
              <a:rPr lang="en-US" sz="1250" i="1" dirty="0">
                <a:solidFill>
                  <a:srgbClr val="64748B"/>
                </a:solidFill>
              </a:rPr>
              <a:t>Felten, Raj &amp; Seamans (2021)
</a:t>
            </a:r>
            <a:r>
              <a:rPr lang="en-US" sz="1250" dirty="0">
                <a:solidFill>
                  <a:srgbClr val="0F172A"/>
                </a:solidFill>
              </a:rPr>
              <a:t>Maps AI capabilities onto O*NET occupational task requirements.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One score per occupation.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172A"/>
                </a:solidFill>
              </a:rPr>
              <a:t>Higher = more exposed to AI.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0" y="2423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</a:rPr>
              <a:t>[ top_bottom_occupations.png 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solidFill>
            <a:srgbClr val="E0F2FE"/>
          </a:solidFill>
          <a:ln w="12700">
            <a:solidFill>
              <a:srgbClr val="BAE6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29200" y="4114800"/>
            <a:ext cx="3657600" cy="32004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44622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D9488"/>
                </a:solidFill>
              </a:rPr>
              <a:t>LOW EXPOSURE  →  Construction, Nurses, Trades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0" y="44622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C2626"/>
                </a:solidFill>
              </a:rPr>
              <a:t>HIGH EXPOSURE  →  HR, Analysts, Data Entry</a:t>
            </a:r>
            <a:endParaRPr lang="en-US" sz="9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F7826A1-50E3-33C4-532E-194CE34C9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379764"/>
            <a:ext cx="4915816" cy="20867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VALIDATION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0" y="39741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We checked the aggregate data. Nothing alarming.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98222" y="1320517"/>
            <a:ext cx="1769716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15568" y="146708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Job Openings Rate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" y="1828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Fell equally everywhere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22369" y="2399245"/>
            <a:ext cx="1371600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84562" y="2382803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2400E"/>
                </a:solidFill>
              </a:rPr>
              <a:t>No AI signal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151866" y="1322363"/>
            <a:ext cx="1694454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1452489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Unemployment Rate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81287" y="1836361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Mixed — no clear pattern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71674" y="2375857"/>
            <a:ext cx="1371600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47288" y="23774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2400E"/>
                </a:solidFill>
              </a:rPr>
              <a:t>Ambiguous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95477" y="3218688"/>
            <a:ext cx="1603014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81287" y="323680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</a:rPr>
              <a:t>AIOE–JOLTS Correlation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84448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 = 0.50, p = 0.21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45936" y="2377440"/>
            <a:ext cx="1371600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4720" y="39502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92400E"/>
                </a:solidFill>
              </a:rPr>
              <a:t>Underpowered (N=8)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1480" y="2977163"/>
            <a:ext cx="2542735" cy="1920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1" y="297180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So we dug deeper.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Aggregate data is too coarse to detect occupation-level displacement.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Time to look at actual companies.</a:t>
            </a:r>
            <a:endParaRPr lang="en-US" sz="12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966EC4F-A054-010D-4935-1793491FA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563" y="902798"/>
            <a:ext cx="3812345" cy="40493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CASE STUDIES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The layoffs ARE happening — in exactly the jobs the model predicted.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926080" cy="34747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59E0B"/>
                </a:solidFill>
              </a:rPr>
              <a:t>66.7%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of laid-off roles fall in the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top AIOE quartile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2560320" cy="182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</a:rPr>
              <a:t>Expected by chance: 25%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t = +7.55  |  p &lt; 0.001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160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21 companies · 9 industries · 139,640 layoffs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566160" y="4343400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66160" y="436168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Google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956048" y="4343400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56048" y="436168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Microsoft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345936" y="4343400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45936" y="436168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IBM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35824" y="4343400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35824" y="436168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Goldman Sachs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566160" y="4690872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66160" y="4709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UPS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56048" y="4690872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56048" y="4709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Citigroup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45936" y="4690872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45936" y="4709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BT Group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35824" y="4690872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735824" y="47091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Salesforce</a:t>
            </a:r>
            <a:endParaRPr lang="en-US" sz="95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ED83178-C0B1-3CEC-9EEB-72955A9D5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465" y="1222754"/>
            <a:ext cx="5404807" cy="29665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1: REGRESSION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What makes a job structurally vulnerable to AI?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200400" cy="21945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017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AIOE = β₀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+ 6.73 (Routine Cognitive)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− 4.20 (Social)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− 15.28 (Physical/Manual)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− 6.94 (Creative)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+ 0.061 (Education)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+ 0.186 (Log Wage)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611880"/>
            <a:ext cx="320040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</a:rPr>
              <a:t>R² = 0.831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4069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83% of AIOE variance explained by task structure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49040" y="4663440"/>
            <a:ext cx="23774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49040" y="46634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PROTECTS: Physical tasks (−15.28***)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0" y="4663440"/>
            <a:ext cx="246888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0" y="46634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THREATENS: Routine Cognitive (+6.73***)</a:t>
            </a:r>
            <a:endParaRPr lang="en-US" sz="9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71622F4-1DE6-969D-15DE-3A4A52C0CF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2051" y="1292255"/>
            <a:ext cx="5017498" cy="27539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 2: PROJECTIONS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If AI keeps improving at measured rates...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97480" cy="1463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Conservative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BD5E1"/>
                </a:solidFill>
              </a:rPr>
              <a:t>2026–2027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</a:rPr>
              <a:t>7.9M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newly at-risk workers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55848" y="1325880"/>
            <a:ext cx="2697480" cy="1463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55848" y="13716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Moderate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55848" y="17830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BD5E1"/>
                </a:solidFill>
              </a:rPr>
              <a:t>2028–2030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55848" y="20574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</a:rPr>
              <a:t>21.2M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55848" y="260604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newly at-risk workers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54496" y="1325880"/>
            <a:ext cx="2697480" cy="1463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54496" y="13716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Aggressive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54496" y="17830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BD5E1"/>
                </a:solidFill>
              </a:rPr>
              <a:t>2031–2035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54496" y="20574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</a:rPr>
              <a:t>33.3M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54496" y="260604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newly at-risk workers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83680" y="2926080"/>
            <a:ext cx="2286000" cy="2011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675120" y="301752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Calibrated to: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METR (2025)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AI capability doubling every 7 months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Stanford AI Index (2025)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Inference costs fell 280× in 18 months</a:t>
            </a:r>
            <a:endParaRPr lang="en-US" sz="9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3BA6EB53-EFC7-B92F-3D9B-1A83A8985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0"/>
            <a:ext cx="5669280" cy="21737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64592"/>
            <a:ext cx="192024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STAGE 3: SETUP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policy tools do countries have — and do they matter?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10058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Country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463040" y="1170432"/>
            <a:ext cx="59436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463040" y="1170432"/>
            <a:ext cx="594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UI Rate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057400" y="1170432"/>
            <a:ext cx="7772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057400" y="11704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UI Duration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834640" y="1170432"/>
            <a:ext cx="7772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34640" y="11704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ALMP Spend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611880" y="1170432"/>
            <a:ext cx="1234440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11880" y="117043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 Tool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1481328"/>
            <a:ext cx="1005840" cy="365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" y="1481328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 Baseline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463040" y="1481328"/>
            <a:ext cx="594360" cy="365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499616" y="1481328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40%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057400" y="1481328"/>
            <a:ext cx="777240" cy="365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093976" y="1481328"/>
            <a:ext cx="74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months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834640" y="1481328"/>
            <a:ext cx="777240" cy="365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871216" y="1481328"/>
            <a:ext cx="74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0.1% GDP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611880" y="1481328"/>
            <a:ext cx="1234440" cy="36576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48456" y="1481328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None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7200" y="1865376"/>
            <a:ext cx="1005840" cy="36576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" y="1865376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Singapore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463040" y="1865376"/>
            <a:ext cx="594360" cy="36576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499616" y="1865376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20%*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057400" y="1865376"/>
            <a:ext cx="777240" cy="36576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093976" y="1865376"/>
            <a:ext cx="74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months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834640" y="1865376"/>
            <a:ext cx="777240" cy="36576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871216" y="1865376"/>
            <a:ext cx="74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0.3% GDP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611880" y="1865376"/>
            <a:ext cx="1234440" cy="36576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48456" y="1865376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SkillsFuture credits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57200" y="2249424"/>
            <a:ext cx="1005840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3776" y="2249424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Germany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463040" y="2249424"/>
            <a:ext cx="594360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499616" y="2249424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67%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2057400" y="2249424"/>
            <a:ext cx="777240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093976" y="2249424"/>
            <a:ext cx="74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 months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834640" y="2249424"/>
            <a:ext cx="777240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871216" y="2249424"/>
            <a:ext cx="74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0.9% GDP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3611880" y="2249424"/>
            <a:ext cx="1234440" cy="3657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648456" y="2249424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Kurzarbeit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457200" y="2633472"/>
            <a:ext cx="100584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93776" y="2633472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Denmark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1463040" y="2633472"/>
            <a:ext cx="59436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499616" y="2633472"/>
            <a:ext cx="557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90%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2057400" y="2633472"/>
            <a:ext cx="77724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2093976" y="2633472"/>
            <a:ext cx="74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 months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2834640" y="2633472"/>
            <a:ext cx="77724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871216" y="2633472"/>
            <a:ext cx="74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2.0% GDP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3611880" y="2633472"/>
            <a:ext cx="123444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648456" y="2633472"/>
            <a:ext cx="119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Full flexicurity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457200" y="303580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1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*savings-based CPF</a:t>
            </a:r>
            <a:endParaRPr kumimoji="0" lang="en-US" sz="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457200" y="3291840"/>
            <a:ext cx="4389120" cy="5943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02920" y="3291840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ABM: </a:t>
            </a: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50,000 agents  |  48 quarters  |  3 scenarios  |  28.8M decisions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57200" y="3977640"/>
            <a:ext cx="4389120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502920" y="400507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Reskill rate/qtr — the number that explains the gap: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548640" y="4279392"/>
            <a:ext cx="914400" cy="23774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548640" y="42793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530352" y="452628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1664208" y="4279392"/>
            <a:ext cx="91440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664208" y="42793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1645920" y="452628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Singapore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2779776" y="4279392"/>
            <a:ext cx="91440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779776" y="42793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14%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2761488" y="452628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Germany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3712464" y="4279392"/>
            <a:ext cx="914400" cy="23774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3712464" y="42793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25%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3694176" y="452628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Denmark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5074920" y="1170432"/>
            <a:ext cx="1828800" cy="3630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5074920" y="1170432"/>
            <a:ext cx="1828800" cy="45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5166360" y="1280160"/>
            <a:ext cx="384048" cy="384048"/>
          </a:xfrm>
          <a:prstGeom prst="ellipse">
            <a:avLst/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166360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A32D2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5605272" y="12801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Customer Service Rep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5605272" y="149961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SOC 43-4051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5166360" y="1719072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FECACA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5166360" y="17190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A32D2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HIGH RISK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5120640" y="2286000"/>
            <a:ext cx="1719072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5138928" y="20116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AIOE baseline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6144768" y="201168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0.956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5120640" y="2606040"/>
            <a:ext cx="1719072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5138928" y="23317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AIOE projected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6144768" y="233172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1.31 ↑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5120640" y="2926080"/>
            <a:ext cx="1719072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5138928" y="26517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Displacement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6144768" y="265176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DC262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27%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5120640" y="3246120"/>
            <a:ext cx="1719072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5138928" y="2971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Education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6144768" y="297180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3.2 / 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Shape 90"/>
          <p:cNvSpPr/>
          <p:nvPr/>
        </p:nvSpPr>
        <p:spPr>
          <a:xfrm>
            <a:off x="5120640" y="3566160"/>
            <a:ext cx="1719072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5138928" y="3291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Reskill capacity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Text 92"/>
          <p:cNvSpPr/>
          <p:nvPr/>
        </p:nvSpPr>
        <p:spPr>
          <a:xfrm>
            <a:off x="6144768" y="329184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0.41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5" name="Text 93"/>
          <p:cNvSpPr/>
          <p:nvPr/>
        </p:nvSpPr>
        <p:spPr>
          <a:xfrm>
            <a:off x="5138928" y="36118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Reskill duration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6144768" y="361188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4–5 qtrs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Shape 95"/>
          <p:cNvSpPr/>
          <p:nvPr/>
        </p:nvSpPr>
        <p:spPr>
          <a:xfrm>
            <a:off x="7059168" y="1170432"/>
            <a:ext cx="1828800" cy="3630168"/>
          </a:xfrm>
          <a:prstGeom prst="rect">
            <a:avLst/>
          </a:prstGeom>
          <a:solidFill>
            <a:srgbClr val="FFFFFF"/>
          </a:solidFill>
          <a:ln w="12700">
            <a:solidFill>
              <a:srgbClr val="9FE1C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96"/>
          <p:cNvSpPr/>
          <p:nvPr/>
        </p:nvSpPr>
        <p:spPr>
          <a:xfrm>
            <a:off x="7059168" y="1170432"/>
            <a:ext cx="18288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7150608" y="1280160"/>
            <a:ext cx="384048" cy="384048"/>
          </a:xfrm>
          <a:prstGeom prst="ellipse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7150608" y="1280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850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1" name="Text 99"/>
          <p:cNvSpPr/>
          <p:nvPr/>
        </p:nvSpPr>
        <p:spPr>
          <a:xfrm>
            <a:off x="7589520" y="12801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Construction Laborer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2" name="Text 100"/>
          <p:cNvSpPr/>
          <p:nvPr/>
        </p:nvSpPr>
        <p:spPr>
          <a:xfrm>
            <a:off x="7589520" y="149961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SOC 47-2061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" name="Shape 101"/>
          <p:cNvSpPr/>
          <p:nvPr/>
        </p:nvSpPr>
        <p:spPr>
          <a:xfrm>
            <a:off x="7150608" y="1719072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7150608" y="17190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08504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LOW RISK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5" name="Shape 103"/>
          <p:cNvSpPr/>
          <p:nvPr/>
        </p:nvSpPr>
        <p:spPr>
          <a:xfrm>
            <a:off x="7104888" y="2286000"/>
            <a:ext cx="1719072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7123176" y="20116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AIOE baseline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7" name="Text 105"/>
          <p:cNvSpPr/>
          <p:nvPr/>
        </p:nvSpPr>
        <p:spPr>
          <a:xfrm>
            <a:off x="8129016" y="201168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−1.29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8" name="Shape 106"/>
          <p:cNvSpPr/>
          <p:nvPr/>
        </p:nvSpPr>
        <p:spPr>
          <a:xfrm>
            <a:off x="7104888" y="2606040"/>
            <a:ext cx="1719072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7123176" y="23317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AIOE projected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0" name="Text 108"/>
          <p:cNvSpPr/>
          <p:nvPr/>
        </p:nvSpPr>
        <p:spPr>
          <a:xfrm>
            <a:off x="8129016" y="233172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−1.21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1" name="Shape 109"/>
          <p:cNvSpPr/>
          <p:nvPr/>
        </p:nvSpPr>
        <p:spPr>
          <a:xfrm>
            <a:off x="7104888" y="2926080"/>
            <a:ext cx="1719072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7123176" y="26517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Displacement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3" name="Text 111"/>
          <p:cNvSpPr/>
          <p:nvPr/>
        </p:nvSpPr>
        <p:spPr>
          <a:xfrm>
            <a:off x="8129016" y="265176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1D9E7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2%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4" name="Shape 112"/>
          <p:cNvSpPr/>
          <p:nvPr/>
        </p:nvSpPr>
        <p:spPr>
          <a:xfrm>
            <a:off x="7104888" y="3246120"/>
            <a:ext cx="1719072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7123176" y="29718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Education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6" name="Text 114"/>
          <p:cNvSpPr/>
          <p:nvPr/>
        </p:nvSpPr>
        <p:spPr>
          <a:xfrm>
            <a:off x="8129016" y="297180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2.1 / 9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7" name="Shape 115"/>
          <p:cNvSpPr/>
          <p:nvPr/>
        </p:nvSpPr>
        <p:spPr>
          <a:xfrm>
            <a:off x="7104888" y="3566160"/>
            <a:ext cx="1719072" cy="0"/>
          </a:xfrm>
          <a:prstGeom prst="line">
            <a:avLst/>
          </a:prstGeom>
          <a:noFill/>
          <a:ln w="635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7123176" y="32918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Reskill capacity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9" name="Text 117"/>
          <p:cNvSpPr/>
          <p:nvPr/>
        </p:nvSpPr>
        <p:spPr>
          <a:xfrm>
            <a:off x="8129016" y="329184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0.28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0" name="Text 118"/>
          <p:cNvSpPr/>
          <p:nvPr/>
        </p:nvSpPr>
        <p:spPr>
          <a:xfrm>
            <a:off x="7123176" y="36118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Reskill duration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1" name="Text 119"/>
          <p:cNvSpPr/>
          <p:nvPr/>
        </p:nvSpPr>
        <p:spPr>
          <a:xfrm>
            <a:off x="8129016" y="361188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F172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5–6 qtrs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Policy matters more than which AI scenario materializes.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675120" y="868680"/>
            <a:ext cx="219456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75120" y="914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Aggressive Scenario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64748B"/>
                </a:solidFill>
              </a:rPr>
              <a:t>Year 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720840" y="1554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Denmark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01000" y="1554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3B82F6"/>
                </a:solidFill>
              </a:rPr>
              <a:t>97.2%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72084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Germany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001000" y="21488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D9488"/>
                </a:solidFill>
              </a:rPr>
              <a:t>97.0%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720840" y="27432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Singapore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01000" y="27432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F59E0B"/>
                </a:solidFill>
              </a:rPr>
              <a:t>96.1%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72084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US Baseline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001000" y="33375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DC2626"/>
                </a:solidFill>
              </a:rPr>
              <a:t>92.0%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675120" y="3977640"/>
            <a:ext cx="219456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75120" y="39776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Gap: 5.2 ppts = ~8.7M workers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4370832"/>
            <a:ext cx="6217920" cy="228600"/>
          </a:xfrm>
          <a:prstGeom prst="rect">
            <a:avLst/>
          </a:prstGeom>
          <a:solidFill>
            <a:srgbClr val="450A0A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437083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CA5A5"/>
                </a:solidFill>
              </a:rPr>
              <a:t>The US is the ONLY modeled economy still declining at year 12.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4645152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50,000 agents  |  48 quarters  |  28.8M decisions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5423E9B-0569-5A7C-753A-F83D75529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23" y="773723"/>
            <a:ext cx="6404317" cy="33832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Three things to do. Now.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50292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105156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Short-Time Work Legislation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435608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Let firms reduce hours + government subsidizes wages instead of layoffs.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Germany's Kurzarbeit model — prevents displacement before it happens.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0292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219456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Extend UI: 6 months → 18 months  |  40% → 65%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578608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Reskilling takes 2–6 quarters. Current US policy runs out before workers finish retraining.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502920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3375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3337560"/>
            <a:ext cx="7680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Universal Reskilling Accounts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721608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Every worker gets annual credits for approved training.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</a:rPr>
              <a:t>Singapore's SkillsFuture model — proactive, not reactive.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841248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C2626"/>
                </a:solidFill>
              </a:rPr>
              <a:t>"We are cooked."</a:t>
            </a:r>
            <a:r>
              <a:rPr lang="en-US" sz="1100" dirty="0">
                <a:solidFill>
                  <a:srgbClr val="64748B"/>
                </a:solidFill>
              </a:rPr>
              <a:t>  — jk, but actually kind of not.    </a:t>
            </a:r>
            <a:r>
              <a:rPr lang="en-US" sz="1100" dirty="0">
                <a:solidFill>
                  <a:srgbClr val="FFFFFF"/>
                </a:solidFill>
              </a:rPr>
              <a:t>Paper available → </a:t>
            </a:r>
            <a:r>
              <a:rPr lang="en-US" sz="1100" b="1" dirty="0">
                <a:solidFill>
                  <a:srgbClr val="0D9488"/>
                </a:solidFill>
              </a:rPr>
              <a:t>dmyers0872@sdsu.edu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799</Words>
  <Application>Microsoft Office PowerPoint</Application>
  <PresentationFormat>On-screen Show (16:9)</PresentationFormat>
  <Paragraphs>205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Job Exposure in the U.S. Economy</dc:title>
  <dc:subject>PptxGenJS Presentation</dc:subject>
  <dc:creator>Dylan Myers</dc:creator>
  <cp:lastModifiedBy>Dylan Myers</cp:lastModifiedBy>
  <cp:revision>3</cp:revision>
  <dcterms:created xsi:type="dcterms:W3CDTF">2026-05-05T16:57:18Z</dcterms:created>
  <dcterms:modified xsi:type="dcterms:W3CDTF">2026-05-05T21:02:15Z</dcterms:modified>
</cp:coreProperties>
</file>