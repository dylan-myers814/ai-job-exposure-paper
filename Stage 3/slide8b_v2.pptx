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92024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3: SETUP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What policy tools do countries have — and do they matter?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00584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Country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463040" y="1170432"/>
            <a:ext cx="59436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117043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UI Rate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057400" y="1170432"/>
            <a:ext cx="77724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57400" y="117043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UI Duration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834640" y="1170432"/>
            <a:ext cx="77724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0" y="117043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ALMP Spend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11880" y="1170432"/>
            <a:ext cx="123444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117043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Key Tool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1481328"/>
            <a:ext cx="1005840" cy="36576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" y="1481328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US Baseline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463040" y="1481328"/>
            <a:ext cx="594360" cy="36576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99616" y="1481328"/>
            <a:ext cx="557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40%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057400" y="1481328"/>
            <a:ext cx="777240" cy="36576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93976" y="1481328"/>
            <a:ext cx="74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6 months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834640" y="1481328"/>
            <a:ext cx="777240" cy="36576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71216" y="1481328"/>
            <a:ext cx="74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0.1% GDP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11880" y="1481328"/>
            <a:ext cx="1234440" cy="36576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48456" y="1481328"/>
            <a:ext cx="119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None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1865376"/>
            <a:ext cx="1005840" cy="36576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" y="1865376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Singapore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463040" y="1865376"/>
            <a:ext cx="594360" cy="36576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99616" y="1865376"/>
            <a:ext cx="557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20%*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057400" y="1865376"/>
            <a:ext cx="777240" cy="36576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93976" y="1865376"/>
            <a:ext cx="74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6 months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834640" y="1865376"/>
            <a:ext cx="777240" cy="36576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71216" y="1865376"/>
            <a:ext cx="74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0.3% GDP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11880" y="1865376"/>
            <a:ext cx="1234440" cy="36576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48456" y="1865376"/>
            <a:ext cx="119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SkillsFuture credits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2249424"/>
            <a:ext cx="1005840" cy="36576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" y="2249424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Germany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463040" y="2249424"/>
            <a:ext cx="594360" cy="36576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499616" y="2249424"/>
            <a:ext cx="557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67%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057400" y="2249424"/>
            <a:ext cx="777240" cy="36576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93976" y="2249424"/>
            <a:ext cx="74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15 months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834640" y="2249424"/>
            <a:ext cx="777240" cy="36576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71216" y="2249424"/>
            <a:ext cx="74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0.9% GDP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11880" y="2249424"/>
            <a:ext cx="1234440" cy="36576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48456" y="2249424"/>
            <a:ext cx="119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Kurzarbeit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" y="2633472"/>
            <a:ext cx="1005840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3776" y="2633472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Denmark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463040" y="2633472"/>
            <a:ext cx="594360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499616" y="2633472"/>
            <a:ext cx="557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90%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057400" y="2633472"/>
            <a:ext cx="777240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093976" y="2633472"/>
            <a:ext cx="74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24 months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834640" y="2633472"/>
            <a:ext cx="777240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871216" y="2633472"/>
            <a:ext cx="74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2.0% GDP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611880" y="2633472"/>
            <a:ext cx="1234440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48456" y="2633472"/>
            <a:ext cx="119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Full flexicurity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57200" y="303580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*savings-based CPF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57200" y="3291840"/>
            <a:ext cx="438912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2920" y="329184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ABM: </a:t>
            </a:r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50,000 agents  |  48 quarters  |  3 scenarios  |  28.8M decisions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57200" y="3977640"/>
            <a:ext cx="438912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2920" y="400507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Reskill rate/qtr — the number that explains the gap: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48640" y="4279392"/>
            <a:ext cx="914400" cy="2377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8640" y="42793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6%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530352" y="452628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US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1664208" y="4279392"/>
            <a:ext cx="914400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664208" y="42793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20%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1645920" y="452628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Singapore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2779776" y="4279392"/>
            <a:ext cx="91440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779776" y="42793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14%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2761488" y="452628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Germany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3712464" y="4279392"/>
            <a:ext cx="914400" cy="23774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712464" y="42793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25%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3694176" y="452628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Denmark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5074920" y="1170432"/>
            <a:ext cx="1828800" cy="3630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074920" y="1170432"/>
            <a:ext cx="1828800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166360" y="1280160"/>
            <a:ext cx="384048" cy="384048"/>
          </a:xfrm>
          <a:prstGeom prst="ellipse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16636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32D2D"/>
                </a:solidFill>
              </a:rPr>
              <a:t>CS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5605272" y="128016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Customer Service Rep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5605272" y="149961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SOC 43-4051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5166360" y="1719072"/>
            <a:ext cx="1645920" cy="201168"/>
          </a:xfrm>
          <a:prstGeom prst="roundRect">
            <a:avLst>
              <a:gd name="adj" fmla="val 22727"/>
            </a:avLst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166360" y="17190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32D2D"/>
                </a:solidFill>
              </a:rPr>
              <a:t>HIGH RISK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5120640" y="2286000"/>
            <a:ext cx="1719072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138928" y="20116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AIOE baseline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6144768" y="2011680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0.956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5120640" y="2606040"/>
            <a:ext cx="1719072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138928" y="233172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AIOE projected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6144768" y="2331720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1.31 ↑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5120640" y="2926080"/>
            <a:ext cx="1719072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138928" y="26517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Displacement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6144768" y="2651760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27%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5120640" y="3246120"/>
            <a:ext cx="1719072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138928" y="29718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Education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6144768" y="2971800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3.2 / 9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5120640" y="3566160"/>
            <a:ext cx="1719072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138928" y="329184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Reskill capacity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6144768" y="3291840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0.41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5138928" y="36118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Reskill duration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6144768" y="3611880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4–5 qtrs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7059168" y="1170432"/>
            <a:ext cx="1828800" cy="3630168"/>
          </a:xfrm>
          <a:prstGeom prst="rect">
            <a:avLst/>
          </a:prstGeom>
          <a:solidFill>
            <a:srgbClr val="FFFFFF"/>
          </a:solidFill>
          <a:ln w="12700">
            <a:solidFill>
              <a:srgbClr val="9FE1CB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059168" y="1170432"/>
            <a:ext cx="18288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150608" y="1280160"/>
            <a:ext cx="384048" cy="384048"/>
          </a:xfrm>
          <a:prstGeom prst="ellipse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7150608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5041"/>
                </a:solidFill>
              </a:rPr>
              <a:t>CL</a:t>
            </a:r>
            <a:endParaRPr lang="en-US" sz="1000" dirty="0"/>
          </a:p>
        </p:txBody>
      </p:sp>
      <p:sp>
        <p:nvSpPr>
          <p:cNvPr id="101" name="Text 99"/>
          <p:cNvSpPr/>
          <p:nvPr/>
        </p:nvSpPr>
        <p:spPr>
          <a:xfrm>
            <a:off x="7589520" y="128016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Construction Laborer</a:t>
            </a:r>
            <a:endParaRPr lang="en-US" sz="950" dirty="0"/>
          </a:p>
        </p:txBody>
      </p:sp>
      <p:sp>
        <p:nvSpPr>
          <p:cNvPr id="102" name="Text 100"/>
          <p:cNvSpPr/>
          <p:nvPr/>
        </p:nvSpPr>
        <p:spPr>
          <a:xfrm>
            <a:off x="7589520" y="149961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SOC 47-2061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7150608" y="1719072"/>
            <a:ext cx="1645920" cy="201168"/>
          </a:xfrm>
          <a:prstGeom prst="roundRect">
            <a:avLst>
              <a:gd name="adj" fmla="val 22727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7150608" y="17190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5041"/>
                </a:solidFill>
              </a:rPr>
              <a:t>LOW RISK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7104888" y="2286000"/>
            <a:ext cx="1719072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7123176" y="20116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AIOE baseline</a:t>
            </a:r>
            <a:endParaRPr lang="en-US" sz="900" dirty="0"/>
          </a:p>
        </p:txBody>
      </p:sp>
      <p:sp>
        <p:nvSpPr>
          <p:cNvPr id="107" name="Text 105"/>
          <p:cNvSpPr/>
          <p:nvPr/>
        </p:nvSpPr>
        <p:spPr>
          <a:xfrm>
            <a:off x="8129016" y="2011680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−1.29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7104888" y="2606040"/>
            <a:ext cx="1719072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7123176" y="233172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AIOE projected</a:t>
            </a:r>
            <a:endParaRPr lang="en-US" sz="900" dirty="0"/>
          </a:p>
        </p:txBody>
      </p:sp>
      <p:sp>
        <p:nvSpPr>
          <p:cNvPr id="110" name="Text 108"/>
          <p:cNvSpPr/>
          <p:nvPr/>
        </p:nvSpPr>
        <p:spPr>
          <a:xfrm>
            <a:off x="8129016" y="2331720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−1.21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7104888" y="2926080"/>
            <a:ext cx="1719072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7123176" y="26517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Displacement</a:t>
            </a:r>
            <a:endParaRPr lang="en-US" sz="900" dirty="0"/>
          </a:p>
        </p:txBody>
      </p:sp>
      <p:sp>
        <p:nvSpPr>
          <p:cNvPr id="113" name="Text 111"/>
          <p:cNvSpPr/>
          <p:nvPr/>
        </p:nvSpPr>
        <p:spPr>
          <a:xfrm>
            <a:off x="8129016" y="2651760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D9E75"/>
                </a:solidFill>
              </a:rPr>
              <a:t>2%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7104888" y="3246120"/>
            <a:ext cx="1719072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7123176" y="29718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Education</a:t>
            </a:r>
            <a:endParaRPr lang="en-US" sz="900" dirty="0"/>
          </a:p>
        </p:txBody>
      </p:sp>
      <p:sp>
        <p:nvSpPr>
          <p:cNvPr id="116" name="Text 114"/>
          <p:cNvSpPr/>
          <p:nvPr/>
        </p:nvSpPr>
        <p:spPr>
          <a:xfrm>
            <a:off x="8129016" y="2971800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2.1 / 9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7104888" y="3566160"/>
            <a:ext cx="1719072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7123176" y="329184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Reskill capacity</a:t>
            </a:r>
            <a:endParaRPr lang="en-US" sz="900" dirty="0"/>
          </a:p>
        </p:txBody>
      </p:sp>
      <p:sp>
        <p:nvSpPr>
          <p:cNvPr id="119" name="Text 117"/>
          <p:cNvSpPr/>
          <p:nvPr/>
        </p:nvSpPr>
        <p:spPr>
          <a:xfrm>
            <a:off x="8129016" y="3291840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0.28</a:t>
            </a:r>
            <a:endParaRPr lang="en-US" sz="900" dirty="0"/>
          </a:p>
        </p:txBody>
      </p:sp>
      <p:sp>
        <p:nvSpPr>
          <p:cNvPr id="120" name="Text 118"/>
          <p:cNvSpPr/>
          <p:nvPr/>
        </p:nvSpPr>
        <p:spPr>
          <a:xfrm>
            <a:off x="7123176" y="36118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Reskill duration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8129016" y="3611880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5–6 qtrs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2026-05-05T17:33:06Z</dcterms:created>
  <dcterms:modified xsi:type="dcterms:W3CDTF">2026-05-05T17:33:06Z</dcterms:modified>
</cp:coreProperties>
</file>